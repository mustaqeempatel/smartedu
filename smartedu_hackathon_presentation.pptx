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2926080" cy="457200"/>
          </a:xfrm>
          <a:prstGeom prst="roundRect">
            <a:avLst/>
          </a:prstGeom>
          <a:solidFill>
            <a:srgbClr val="1E3A8A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⚡ HACKATHON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SmartEdu</a:t>
            </a:r>
          </a:p>
          <a:p>
            <a:pPr>
              <a:defRPr sz="2400" b="1">
                <a:solidFill>
                  <a:srgbClr val="93C5FD"/>
                </a:solidFill>
              </a:defRPr>
            </a:pPr>
            <a:r>
              <a:t>AI-Powered Hidden Academic Support Detection System</a:t>
            </a:r>
          </a:p>
          <a:p>
            <a:pPr>
              <a:defRPr sz="1500">
                <a:solidFill>
                  <a:srgbClr val="CBD5E1"/>
                </a:solidFill>
              </a:defRPr>
            </a:pPr>
            <a:r>
              <a:t>Detecting subtle academic distress before grades collapse through multi-signal response latency, repeated mistakes, and confidence mismatch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1033272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ACC15"/>
                </a:solidFill>
              </a:defRPr>
            </a:pPr>
            <a:r>
              <a:t>TEAM: INFINITY X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Core Principle: DETECT  →  EXPLAIN  →  INTERVENE  →  MEASURE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Mobile-First Application Architecture • Real Persistent Relational Engine • Zero-Deficit Explainable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TEAM INFINITY X  • 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Fallacy of the Passing Grade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B91C1C"/>
                </a:solidFill>
              </a:defRPr>
            </a:pPr>
            <a:r>
              <a:t>The Traditional Blindspot ❌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Traditional LMS &amp; grading tools only measure aggregate scores (e.g. '82% - Passing Grade').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Students attend class, submit homework, and appear academically fine on the surface.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Behind the scenes, the student might have critical conceptual gaps, repeated failures on prerequisite topics, or high hesitation.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By the time exams arrive, these hidden cracks widen into catastrophic failure.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The SmartEdu Discovery: Alex Morgan 🔍</a:t>
            </a:r>
          </a:p>
          <a:p>
            <a:pPr>
              <a:defRPr sz="1400" b="1">
                <a:solidFill>
                  <a:srgbClr val="15803D"/>
                </a:solidFill>
              </a:defRPr>
            </a:pPr>
            <a:r>
              <a:t>Overall Quiz Score: 82% (Looks completely safe!)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⚡ 5 repeated errors on 'Kirchhoff's Laws' concept questions.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⚡ 3 repeated attempts on the same questions without score improvement.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⚡ Response time: 48 seconds (2.2x higher than Alex's 22s baseline).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⚡ 4 Confidence Mismatches: Alex marked 'Very Confident' on wrong answers (severe conceptual misconception!).</a:t>
            </a:r>
          </a:p>
          <a:p>
            <a:pPr>
              <a:defRPr sz="1300" b="1">
                <a:solidFill>
                  <a:srgbClr val="D97706"/>
                </a:solidFill>
              </a:defRPr>
            </a:pPr>
            <a:r>
              <a:t>Result: SmartEdu flags a 'Possible Support Signal' BEFORE Alex falls behind.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TEAM INFINITY X  •  ETHICS &amp; AI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Non-Deficit, Constructive AI Philosophy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B91C1C"/>
                </a:solidFill>
              </a:defRPr>
            </a:pPr>
            <a:r>
              <a:t>WHAT WE NEVER DO ⛔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❌ Never display derogatory labels ('This student is weak').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❌ Never diagnose learning disabilities or make psychological claims.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❌ Never make black-box automated decisions without human teacher review.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❌ Never expose student data publicly or cross-student.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5803D"/>
                </a:solidFill>
              </a:defRPr>
            </a:pPr>
            <a:r>
              <a:t>WHAT WE COMMUNICATE ✅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✔ 'Possible academic support signal detected.'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✔ 'Review Recommended on Kirchhoff's Laws.'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✔ 'Confidence mismatch observed: student feels confident but selected misconception.'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✔ Targeted academic support tailored to specific learning behavior.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TEACHER AGENCY 🧑‍🏫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💡 The AI provides transparent, verifiable evidence.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💡 Teacher inspects every response, time metric, and error cluster.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💡 Teacher decides whether and how to intervene.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💡 Teacher selects intervention strategy: concept review, practice sheet, or 3-question check.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TEAM INFINITY X  •  CORE PRODUCT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End-to-End Educational Feedback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1. Student Learning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Student takes quiz, answers MCQs with response timer.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14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2. Data Collection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Stores question ID, chosen option, response time, confidence level.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14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3. Pattern Analysis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Signal engine evaluates error rate, latency contrast, and mismatches.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14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4. Support Signal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Support Score computed (0-100). If &gt;= 45, status set to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2514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5. Teacher Review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Teacher inspects transparent evidence drawer explaining WHY flagged.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931920"/>
            <a:ext cx="2514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6. Intervention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Teacher assigns targeted action (e.g. 3-question concept check).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2514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7. Follow-up Test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Student completes targeted check to re-verify concept grasp.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3931920"/>
            <a:ext cx="2514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8. Measured Result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System computes delta (+40% improvement, status: Improved).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TEAM INFINITY X  •  INNOVATION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4-Tier Confidence Mismatch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1148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Why Confidence Matters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In SmartEdu, after selecting an answer, students MUST rate their confidence: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Not Sure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Somewhat Sure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Confident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Very Confident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Crucial Insight: A student who answers incorrectly while being 'Very Confident' is fundamentally different from a student who guessed.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Overconfidence on errors reveals deep misconceptions. Underconfidence on correct answers reveals hesitation.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3291840" cy="21945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5803D"/>
                </a:solidFill>
              </a:defRPr>
            </a:pPr>
            <a:r>
              <a:t>CORRECT + HIGH CONFIDENCE</a:t>
            </a:r>
          </a:p>
          <a:p>
            <a:pPr>
              <a:defRPr sz="1300" b="1">
                <a:solidFill>
                  <a:srgbClr val="15803D"/>
                </a:solidFill>
              </a:defRPr>
            </a:pPr>
            <a:r>
              <a:t>Mastery Demonstrated 🌟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Student understands concept and correctly applies principles with certainty.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645920"/>
            <a:ext cx="3291840" cy="21945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91C1C"/>
                </a:solidFill>
              </a:defRPr>
            </a:pPr>
            <a:r>
              <a:t>INCORRECT + HIGH CONFIDENCE</a:t>
            </a:r>
          </a:p>
          <a:p>
            <a:pPr>
              <a:defRPr sz="1300" b="1">
                <a:solidFill>
                  <a:srgbClr val="B91C1C"/>
                </a:solidFill>
              </a:defRPr>
            </a:pPr>
            <a:r>
              <a:t>Critical Misconception ⚠️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Strongest support signal! Student has a false belief in an incorrect rule.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4023360"/>
            <a:ext cx="3291840" cy="219456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CORRECT + LOW CONFIDENCE</a:t>
            </a:r>
          </a:p>
          <a:p>
            <a:pPr>
              <a:defRPr sz="1300" b="1">
                <a:solidFill>
                  <a:srgbClr val="D97706"/>
                </a:solidFill>
              </a:defRPr>
            </a:pPr>
            <a:r>
              <a:t>Hesitation / Low Efficacy ❓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Student gets it right but doubts their ability. Reassurance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4023360"/>
            <a:ext cx="3291840" cy="21945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INCORRECT + LOW CONFIDENCE</a:t>
            </a:r>
          </a:p>
          <a:p>
            <a:pPr>
              <a:defRPr sz="1300" b="1">
                <a:solidFill>
                  <a:srgbClr val="64748B"/>
                </a:solidFill>
              </a:defRPr>
            </a:pPr>
            <a:r>
              <a:t>Knowledge Gap (Guessing) 📉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Student recognizes they don't know the material. Needs first-time instruction.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TEAM INFINITY X  •  ALGORITHMIC GROUNDING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Learning Support Signal Scoring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1. Error Frequency (0-35 pts)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Measures error concentration on a specific topic. If error rate on concept &gt;= 60%, flags high distress.</a:t>
            </a:r>
          </a:p>
          <a:p>
            <a:br/>
            <a:pPr>
              <a:defRPr sz="1100" b="1">
                <a:solidFill>
                  <a:srgbClr val="64748B"/>
                </a:solidFill>
              </a:defRPr>
            </a:pPr>
            <a:r>
              <a:t>Composite Formula:</a:t>
            </a:r>
            <a:br/>
            <a:r>
              <a:t>Score = min(100, Σ Factors)</a:t>
            </a:r>
            <a:br/>
            <a:br/>
            <a:r>
              <a:t>Threshold:</a:t>
            </a:r>
            <a:br/>
            <a:r>
              <a:t>Score ≥ 45 ➜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2. Repeated Attempts (0-20 pts)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Tracks repeated tries on questions within the same topic without score stabilization.</a:t>
            </a:r>
          </a:p>
          <a:p>
            <a:br/>
            <a:pPr>
              <a:defRPr sz="1100" b="1">
                <a:solidFill>
                  <a:srgbClr val="64748B"/>
                </a:solidFill>
              </a:defRPr>
            </a:pPr>
            <a:r>
              <a:t>Composite Formula:</a:t>
            </a:r>
            <a:br/>
            <a:r>
              <a:t>Score = min(100, Σ Factors)</a:t>
            </a:r>
            <a:br/>
            <a:br/>
            <a:r>
              <a:t>Threshold:</a:t>
            </a:r>
            <a:br/>
            <a:r>
              <a:t>Score ≥ 45 ➜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3. Response Latency Contrast (0-25 pts)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Compares average topic latency against the student's personal baseline across other topics. Ratio &gt; 1.3x triggers struggle flag.</a:t>
            </a:r>
          </a:p>
          <a:p>
            <a:br/>
            <a:pPr>
              <a:defRPr sz="1100" b="1">
                <a:solidFill>
                  <a:srgbClr val="64748B"/>
                </a:solidFill>
              </a:defRPr>
            </a:pPr>
            <a:r>
              <a:t>Composite Formula:</a:t>
            </a:r>
            <a:br/>
            <a:r>
              <a:t>Score = min(100, Σ Factors)</a:t>
            </a:r>
            <a:br/>
            <a:br/>
            <a:r>
              <a:t>Threshold:</a:t>
            </a:r>
            <a:br/>
            <a:r>
              <a:t>Score ≥ 45 ➜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5803D"/>
                </a:solidFill>
              </a:defRPr>
            </a:pPr>
            <a:r>
              <a:t>4. Confidence Mismatches (0-25 pts)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Overconfidence on errors weighted heavily (10 pts each). Detects conceptual misconceptions over lucky guesses.</a:t>
            </a:r>
          </a:p>
          <a:p>
            <a:br/>
            <a:pPr>
              <a:defRPr sz="1100" b="1">
                <a:solidFill>
                  <a:srgbClr val="64748B"/>
                </a:solidFill>
              </a:defRPr>
            </a:pPr>
            <a:r>
              <a:t>Composite Formula:</a:t>
            </a:r>
            <a:br/>
            <a:r>
              <a:t>Score = min(100, Σ Factors)</a:t>
            </a:r>
            <a:br/>
            <a:br/>
            <a:r>
              <a:t>Threshold:</a:t>
            </a:r>
            <a:br/>
            <a:r>
              <a:t>Score ≥ 45 ➜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TEAM INFINITY X  •  TEACHER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Transparent Evidence: No Black-Box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669280" cy="4572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92400E"/>
                </a:solidFill>
              </a:defRPr>
            </a:pPr>
            <a:r>
              <a:t>EVIDENCE DRAWER: ALEX MORGAN (82% OVERALL)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Topic: Kirchhoff's Laws | Subject: Physics | Support Score: 71.1 (REVIEW)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------------------------------------------------------------------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5 repeated mistakes recorded on 'Kirchhoff's Laws'.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4 confidence mismatches: Student selected 'Very Confident' on wrong answers (conceptual misconception).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Average response time (48s) is 2.2x higher than Alex's baseline (22s).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3 repeated attempts without score stabilization.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------------------------------------------------------------------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Recent Question: 'Kirchhoff's loop rule expresses conservation of...'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Alex selected: [A] Electric charge (Wrong!) | Confidence: Very Confident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Correct Answer: [B] Energy | Latency: 48.0s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645920"/>
            <a:ext cx="4754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Targeted Interventions in 1 Click 🎯</a:t>
            </a:r>
          </a:p>
          <a:p>
            <a:pPr>
              <a:defRPr sz="1300" b="1">
                <a:solidFill>
                  <a:srgbClr val="4F46E5"/>
                </a:solidFill>
              </a:defRPr>
            </a:pPr>
            <a:r>
              <a:t>✔ 3-Question Concept Check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Rapid targeted micro-assessment to evaluate if the core misconception is cleared.</a:t>
            </a:r>
          </a:p>
          <a:p>
            <a:pPr>
              <a:defRPr sz="1300" b="1">
                <a:solidFill>
                  <a:srgbClr val="4F46E5"/>
                </a:solidFill>
              </a:defRPr>
            </a:pPr>
            <a:r>
              <a:t>✔ Concept Explanation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Teacher provides specialized notes and circuit convention diagrams.</a:t>
            </a:r>
          </a:p>
          <a:p>
            <a:pPr>
              <a:defRPr sz="1300" b="1">
                <a:solidFill>
                  <a:srgbClr val="4F46E5"/>
                </a:solidFill>
              </a:defRPr>
            </a:pPr>
            <a:r>
              <a:t>✔ Practice Worksheet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Structured progressive circuit exercises focusing on junction rules.</a:t>
            </a:r>
          </a:p>
          <a:p>
            <a:pPr>
              <a:defRPr sz="1300" b="1">
                <a:solidFill>
                  <a:srgbClr val="4F46E5"/>
                </a:solidFill>
              </a:defRPr>
            </a:pPr>
            <a:r>
              <a:t>✔ Teacher Guidance Note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e.g. 'Review Kirchhoff's loop rule sign convention (+IR vs -IR) before attempting advanced circuits.'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TEAM INFINITY X  •  MEASURED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Closing the Loop: Quantified Improvement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91C1C"/>
                </a:solidFill>
              </a:defRPr>
            </a:pPr>
            <a:r>
              <a:t>BEFORE INTERVENTION</a:t>
            </a:r>
          </a:p>
          <a:p>
            <a:pPr>
              <a:defRPr sz="4000" b="1">
                <a:solidFill>
                  <a:srgbClr val="B91C1C"/>
                </a:solidFill>
              </a:defRPr>
            </a:pPr>
            <a:r>
              <a:t>40%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Initial accuracy on concept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5803D"/>
                </a:solidFill>
              </a:defRPr>
            </a:pPr>
            <a:r>
              <a:t>AFTER INTERVENTION</a:t>
            </a:r>
          </a:p>
          <a:p>
            <a:pPr>
              <a:defRPr sz="4000" b="1">
                <a:solidFill>
                  <a:srgbClr val="15803D"/>
                </a:solidFill>
              </a:defRPr>
            </a:pPr>
            <a:r>
              <a:t>80%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3-Question Concept Check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MEASURED DELTA</a:t>
            </a:r>
          </a:p>
          <a:p>
            <a:pPr>
              <a:defRPr sz="4000" b="1">
                <a:solidFill>
                  <a:srgbClr val="4F46E5"/>
                </a:solidFill>
              </a:defRPr>
            </a:pPr>
            <a:r>
              <a:t>+40%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Status: 'Improved' (Signal Resolved)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6984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Objective Progression Rules (Configurable &amp; Reproducible)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Improvement ≥ +25% ➜ Result Status: 'Improved' (Support signal marked RESOLVED).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Improvement between +10% and +24% ➜ Result Status: 'Partially Improved'.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Improvement &lt; +10% ➜ Result Status: 'Further Review Recommended' (Flag retained on Teacher Dashboard).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All before/after results permanently stored in follow_up_results table for longitudinal growth tracking.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TEAM INFINITY X  •  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Production-Ready Full-Stack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Mobile-First Frontend 📱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Native Android viewport shell with speaker notch &amp; status bar.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Responsive full-width toggle for desktop presentation.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Touch targets &gt;= 44x44px, bottom tab navigation.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Zero bloated frameworks: Clean HTML5, Vanilla CSS tokens &amp; ES6 JavaScript.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REST Backend &amp; RBAC 🛡️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Python Starlette ASGI server with Uvicorn engine.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HMAC-SHA256 cryptographically signed session tokens.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PBKDF2-HMAC-SHA256 password hashing (100,000 rounds, unique salts).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Role-Based Access Control on every API endpoint.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Persistent Relational Database 💾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Real disk-backed SQLite database (smartedu.db) with WAL mode.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Strict foreign keys (PRAGMA foreign_keys = ON) &amp; cascade rules.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16 structured tables covering users, curriculum, quizzes, and signals.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Survives application restarts, logout/login, and deployments.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TEAM INFINITY X  •  VERIFICATION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All 25 Acceptance Criteria Verified &amp; Passing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5803D"/>
                </a:solidFill>
              </a:defRPr>
            </a:pPr>
            <a:r>
              <a:t>Automated Test Suite (100% Green) ✅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✔ 1-4: Admin creates teachers, students, &amp; assigns classes/subjects.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✔ 5-6: Teacher authors multi-question quizzes with topic mapping.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✔ 7-10: Student takes quiz with live timer &amp; confidence selection.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✔ 11-14: Question attempts saved, engine triggers support signal.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✔ 15-16: Teacher inspects transparent explainable evidence.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✔ 17-20: Teacher assigns intervention, student completes check (+40%).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✔ 21-22: Only admin can permanently delete records safely.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✔ 23-24: Student blocked from teacher/admin; Teacher blocked from admin.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✔ 25: Data persists across database reconnection &amp; restarts.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Comprehensive Synthetic Demo Data 📊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5 Faculty Teachers (Physics, Chemistry, Math, CS, Biology).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20 Enrolled Students across Grade 10-A, Grade 11-Sci, Grade 12-Adv.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4 Subjects, 10 Chapters, 30 Topics.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10 Published Quizzes with 100+ high-quality academic questions.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Real Seeded Scenarios: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  • Alex Morgan: 82% overall, flagged on Kirchhoff's Laws.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  • Priya Sharma: Completed intervention, +40% measured improvement.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1-Click Evaluator Fast-Login Bar for instant role testing during demo.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Transforming Education Through Proactive Care</a:t>
            </a:r>
          </a:p>
          <a:p>
            <a:pPr>
              <a:defRPr sz="2200">
                <a:solidFill>
                  <a:srgbClr val="93C5FD"/>
                </a:solidFill>
              </a:defRPr>
            </a:pPr>
            <a:r>
              <a:t>Traditional grading is an autopsy of past performance.</a:t>
            </a:r>
            <a:br/>
            <a:r>
              <a:t>SmartEdu is preventive healthcare for academic learning.</a:t>
            </a:r>
          </a:p>
          <a:p>
            <a:br/>
            <a:pPr>
              <a:defRPr sz="1600">
                <a:solidFill>
                  <a:srgbClr val="CBD5E1"/>
                </a:solidFill>
              </a:defRPr>
            </a:pPr>
            <a:r>
              <a:t>By combining latency, repeated errors, and confidence mismatch with explainable AI and teacher agency, we ensure NO student silently falls behind.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103327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ACC15"/>
                </a:solidFill>
              </a:defRPr>
            </a:pPr>
            <a:r>
              <a:t>THANK YOU!  •  TEAM INFINITY X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Live Web App: http://127.0.0.1:8000/  •  Presentation Deck: http://127.0.0.1:8000/presentation.html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